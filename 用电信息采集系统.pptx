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B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2286000" cy="6858000"/>
          </a:xfrm>
          <a:prstGeom prst="rect">
            <a:avLst/>
          </a:prstGeom>
          <a:solidFill>
            <a:srgbClr val="00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用电信息采集系统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8D4E8"/>
                </a:solidFill>
                <a:latin typeface="Microsoft YaHei"/>
              </a:defRPr>
            </a:pPr>
            <a:r>
              <a:t>智能电网重要组成部分 · 业务应用核心数据支撑平台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0B8D0"/>
                </a:solidFill>
                <a:latin typeface="Microsoft YaHei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B96"/>
                </a:solidFill>
                <a:latin typeface="Microsoft YaHei"/>
              </a:defRPr>
            </a:pPr>
            <a:r>
              <a:t>系统概述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8046720" cy="1463040"/>
          </a:xfrm>
          <a:prstGeom prst="roundRect">
            <a:avLst/>
          </a:prstGeom>
          <a:solidFill>
            <a:srgbClr val="E8F4FC"/>
          </a:solidFill>
          <a:ln w="12700">
            <a:solidFill>
              <a:srgbClr val="008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1A2B3C"/>
                </a:solidFill>
                <a:latin typeface="Microsoft YaHei"/>
              </a:defRPr>
            </a:pPr>
            <a:r>
              <a:t>采集系统全称是用电信息采集系统，是智能电网的重要组成部分，是各类业务应用的重要数据支撑平台。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700">
                <a:solidFill>
                  <a:srgbClr val="5A6A7A"/>
                </a:solidFill>
                <a:latin typeface="Microsoft YaHei"/>
              </a:defRPr>
            </a:pPr>
            <a:r>
              <a:t>采集系统通过对电力用户的用电信息进行采集、处理和实时监控，为电力企业生产经营和客户服务提供全面、准确、及时的数据支撑。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2377440" cy="100584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25196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智能电网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177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8D4E8"/>
                </a:solidFill>
                <a:latin typeface="Microsoft YaHei"/>
              </a:defRPr>
            </a:pPr>
            <a:r>
              <a:t>核心组成部分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4114800"/>
            <a:ext cx="2377440" cy="100584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425196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数据支撑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6177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8D4E8"/>
                </a:solidFill>
                <a:latin typeface="Microsoft YaHei"/>
              </a:defRPr>
            </a:pPr>
            <a:r>
              <a:t>业务应用平台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2377440" cy="100584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25196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实时采集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6177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8D4E8"/>
                </a:solidFill>
                <a:latin typeface="Microsoft YaHei"/>
              </a:defRPr>
            </a:pPr>
            <a:r>
              <a:t>用电信息处理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B96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840480" cy="1051560"/>
          </a:xfrm>
          <a:prstGeom prst="roundRect">
            <a:avLst/>
          </a:prstGeom>
          <a:solidFill>
            <a:srgbClr val="E8F4FC"/>
          </a:solidFill>
          <a:ln w="9525">
            <a:solidFill>
              <a:srgbClr val="008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234440"/>
            <a:ext cx="164592" cy="16459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16128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5B96"/>
                </a:solidFill>
                <a:latin typeface="Microsoft YaHei"/>
              </a:defRPr>
            </a:pPr>
            <a:r>
              <a:t>用电信息自动采集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27048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A7A"/>
                </a:solidFill>
                <a:latin typeface="Microsoft YaHei"/>
              </a:defRPr>
            </a:pPr>
            <a:r>
              <a:t>实现对电力用户用电数据的自动化采集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051560"/>
            <a:ext cx="384048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8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00600" y="1234440"/>
            <a:ext cx="164592" cy="16459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116128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5B96"/>
                </a:solidFill>
                <a:latin typeface="Microsoft YaHei"/>
              </a:defRPr>
            </a:pPr>
            <a:r>
              <a:t>计量异常监测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527048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A7A"/>
                </a:solidFill>
                <a:latin typeface="Microsoft YaHei"/>
              </a:defRPr>
            </a:pPr>
            <a:r>
              <a:t>及时发现并预警计量装置异常情况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6000"/>
            <a:ext cx="3840480" cy="1051560"/>
          </a:xfrm>
          <a:prstGeom prst="roundRect">
            <a:avLst/>
          </a:prstGeom>
          <a:solidFill>
            <a:srgbClr val="E8F4FC"/>
          </a:solidFill>
          <a:ln w="9525">
            <a:solidFill>
              <a:srgbClr val="008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2468880"/>
            <a:ext cx="164592" cy="16459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39572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5B96"/>
                </a:solidFill>
                <a:latin typeface="Microsoft YaHei"/>
              </a:defRPr>
            </a:pPr>
            <a:r>
              <a:t>电能质量监测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761488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A7A"/>
                </a:solidFill>
                <a:latin typeface="Microsoft YaHei"/>
              </a:defRPr>
            </a:pPr>
            <a:r>
              <a:t>监测电压、频率等电能质量指标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286000"/>
            <a:ext cx="384048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8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0600" y="2468880"/>
            <a:ext cx="164592" cy="16459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239572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5B96"/>
                </a:solidFill>
                <a:latin typeface="Microsoft YaHei"/>
              </a:defRPr>
            </a:pPr>
            <a:r>
              <a:t>用电分析和管理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761488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A7A"/>
                </a:solidFill>
                <a:latin typeface="Microsoft YaHei"/>
              </a:defRPr>
            </a:pPr>
            <a:r>
              <a:t>开展用电数据分析与精细化管理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520440"/>
            <a:ext cx="3840480" cy="1051560"/>
          </a:xfrm>
          <a:prstGeom prst="roundRect">
            <a:avLst/>
          </a:prstGeom>
          <a:solidFill>
            <a:srgbClr val="E8F4FC"/>
          </a:solidFill>
          <a:ln w="9525">
            <a:solidFill>
              <a:srgbClr val="008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3703320"/>
            <a:ext cx="164592" cy="16459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63016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5B96"/>
                </a:solidFill>
                <a:latin typeface="Microsoft YaHei"/>
              </a:defRPr>
            </a:pPr>
            <a:r>
              <a:t>相关信息发布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995928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A7A"/>
                </a:solidFill>
                <a:latin typeface="Microsoft YaHei"/>
              </a:defRPr>
            </a:pPr>
            <a:r>
              <a:t>向用户及相关系统发布用电信息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3520440"/>
            <a:ext cx="384048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8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00600" y="3703320"/>
            <a:ext cx="164592" cy="16459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3016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5B96"/>
                </a:solidFill>
                <a:latin typeface="Microsoft YaHei"/>
              </a:defRPr>
            </a:pPr>
            <a:r>
              <a:t>分布式能源监控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3995928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A7A"/>
                </a:solidFill>
                <a:latin typeface="Microsoft YaHei"/>
              </a:defRPr>
            </a:pPr>
            <a:r>
              <a:t>监控分布式光伏、储能等能源设施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54880"/>
            <a:ext cx="3840480" cy="1051560"/>
          </a:xfrm>
          <a:prstGeom prst="roundRect">
            <a:avLst/>
          </a:prstGeom>
          <a:solidFill>
            <a:srgbClr val="E8F4FC"/>
          </a:solidFill>
          <a:ln w="9525">
            <a:solidFill>
              <a:srgbClr val="008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937760"/>
            <a:ext cx="164592" cy="16459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86460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5B96"/>
                </a:solidFill>
                <a:latin typeface="Microsoft YaHei"/>
              </a:defRPr>
            </a:pPr>
            <a:r>
              <a:t>智能用电设备交互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230368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A7A"/>
                </a:solidFill>
                <a:latin typeface="Microsoft YaHei"/>
              </a:defRPr>
            </a:pPr>
            <a:r>
              <a:t>实现与智能用电设备的信息交互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B96"/>
                </a:solidFill>
                <a:latin typeface="Microsoft YaHei"/>
              </a:defRPr>
            </a:pPr>
            <a:r>
              <a:t>系统接口与数据流转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6A7A"/>
                </a:solidFill>
                <a:latin typeface="Microsoft YaHei"/>
              </a:defRPr>
            </a:pPr>
            <a:r>
              <a:t>用电信息采集系统作为基础数据来源系统，与之有接口的系统繁多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560320"/>
            <a:ext cx="2560320" cy="9144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278892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用电信息采集系统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011680" cy="68580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营销系统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828800"/>
            <a:ext cx="2011680" cy="68580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99339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乡供平台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2011680" cy="68580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7939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配网故障抢修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114800"/>
            <a:ext cx="2011680" cy="68580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27939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SCADA系统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A6A7A"/>
                </a:solidFill>
                <a:latin typeface="Microsoft YaHei"/>
              </a:defRPr>
            </a:pPr>
            <a:r>
              <a:t>为多个业务系统提供统一、可靠的基础用电数据支撑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B96"/>
                </a:solidFill>
                <a:latin typeface="Microsoft YaHei"/>
              </a:defRPr>
            </a:pPr>
            <a:r>
              <a:t>相关业务部门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6A7A"/>
                </a:solidFill>
                <a:latin typeface="Microsoft YaHei"/>
              </a:defRPr>
            </a:pPr>
            <a:r>
              <a:t>用电信息采集系统的数据应用广泛，与之相关的业务部门较多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377440" cy="10972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194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营销部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377440" cy="109728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65960"/>
            <a:ext cx="2194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营销服务中心（计量中心）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377440" cy="10972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65960"/>
            <a:ext cx="2194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运检部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2377440" cy="109728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2194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采集班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3108960"/>
            <a:ext cx="2377440" cy="10972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429000"/>
            <a:ext cx="2194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装接班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108960"/>
            <a:ext cx="2377440" cy="109728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429000"/>
            <a:ext cx="2194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抄表班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B96"/>
                </a:solidFill>
                <a:latin typeface="Microsoft YaHei"/>
              </a:defRPr>
            </a:pPr>
            <a:r>
              <a:t>系统数据规模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315200" cy="20116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6766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用电信息采集系统是目前电力公司内</a:t>
            </a:r>
            <a:br/>
            <a:r>
              <a:t>数据量最大的支撑系统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4005072"/>
            <a:ext cx="137160" cy="1371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931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2B3C"/>
                </a:solidFill>
                <a:latin typeface="Microsoft YaHei"/>
              </a:defRPr>
            </a:pPr>
            <a:r>
              <a:t>海量用户用电数据持续采集与存储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4599432"/>
            <a:ext cx="137160" cy="1371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45262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2B3C"/>
                </a:solidFill>
                <a:latin typeface="Microsoft YaHei"/>
              </a:defRPr>
            </a:pPr>
            <a:r>
              <a:t>支撑多业务系统高频数据调用与分析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5193792"/>
            <a:ext cx="137160" cy="1371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5120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2B3C"/>
                </a:solidFill>
                <a:latin typeface="Microsoft YaHei"/>
              </a:defRPr>
            </a:pPr>
            <a:r>
              <a:t>对系统性能、稳定性与扩展性提出极高要求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B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63040"/>
            <a:ext cx="182880" cy="1828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智能电网核心基础设施，业务数据中枢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240280"/>
            <a:ext cx="182880" cy="1828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14884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功能全面：采集、监测、分析、交互一体化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017520"/>
            <a:ext cx="182880" cy="1828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92608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广泛对接营销、配网、SCADA 等系统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794760"/>
            <a:ext cx="182880" cy="1828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70332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服务营销、运检等多业务部门协同作业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572000"/>
            <a:ext cx="182880" cy="1828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4805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电力公司数据量最大的支撑系统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035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5A623"/>
                </a:solidFill>
                <a:latin typeface="Microsoft YaHei"/>
              </a:defRPr>
            </a:pPr>
            <a: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